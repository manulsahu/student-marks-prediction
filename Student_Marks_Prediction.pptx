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2"/>
  </p:notesMasterIdLst>
  <p:handoutMasterIdLst>
    <p:handoutMasterId r:id="rId23"/>
  </p:handoutMasterIdLst>
  <p:sldIdLst>
    <p:sldId id="312" r:id="rId5"/>
    <p:sldId id="304" r:id="rId6"/>
    <p:sldId id="307" r:id="rId7"/>
    <p:sldId id="281" r:id="rId8"/>
    <p:sldId id="282" r:id="rId9"/>
    <p:sldId id="325" r:id="rId10"/>
    <p:sldId id="315" r:id="rId11"/>
    <p:sldId id="324" r:id="rId12"/>
    <p:sldId id="317" r:id="rId13"/>
    <p:sldId id="319" r:id="rId14"/>
    <p:sldId id="321" r:id="rId15"/>
    <p:sldId id="322" r:id="rId16"/>
    <p:sldId id="326" r:id="rId17"/>
    <p:sldId id="328" r:id="rId18"/>
    <p:sldId id="329" r:id="rId19"/>
    <p:sldId id="330" r:id="rId20"/>
    <p:sldId id="297" r:id="rId2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5388" autoAdjust="0"/>
  </p:normalViewPr>
  <p:slideViewPr>
    <p:cSldViewPr snapToGrid="0" snapToObjects="1">
      <p:cViewPr varScale="1">
        <p:scale>
          <a:sx n="111" d="100"/>
          <a:sy n="111" d="100"/>
        </p:scale>
        <p:origin x="276" y="9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3200" dirty="0"/>
              <a:t>STUDENT MARKS  PREDICTION </a:t>
            </a:r>
            <a:br>
              <a:rPr lang="en-US" sz="3200" dirty="0"/>
            </a:br>
            <a:r>
              <a:rPr lang="en-US" sz="1800" dirty="0"/>
              <a:t>(DATA SCIENCE PROJECT)</a:t>
            </a:r>
            <a:br>
              <a:rPr lang="en-US" sz="1800" dirty="0"/>
            </a:br>
            <a:br>
              <a:rPr lang="en-US" sz="3200" dirty="0"/>
            </a:br>
            <a:r>
              <a:rPr lang="en-US" sz="1600" dirty="0"/>
              <a:t>SUBMITTED TO : Mr. Devansh </a:t>
            </a:r>
            <a:r>
              <a:rPr lang="en-IN" sz="1600" dirty="0" err="1"/>
              <a:t>Kasaudhan</a:t>
            </a:r>
            <a:br>
              <a:rPr lang="en-IN" sz="105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FD45F65-B89B-B834-2E39-9B44D28653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SUBMITTED BY :</a:t>
            </a:r>
          </a:p>
          <a:p>
            <a:r>
              <a:rPr lang="en-IN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Manul Sahu (72411681)</a:t>
            </a:r>
          </a:p>
          <a:p>
            <a:r>
              <a:rPr lang="en-IN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Mehak (72411630)</a:t>
            </a:r>
          </a:p>
          <a:p>
            <a:r>
              <a:rPr lang="en-IN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Kurapati</a:t>
            </a:r>
            <a:r>
              <a:rPr lang="en-IN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i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Yashwanth</a:t>
            </a:r>
            <a:r>
              <a:rPr lang="en-IN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Sai (72412857)</a:t>
            </a:r>
          </a:p>
          <a:p>
            <a:r>
              <a:rPr lang="en-IN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Simran Vij(72413557)</a:t>
            </a:r>
          </a:p>
          <a:p>
            <a:endParaRPr lang="en-IN" dirty="0"/>
          </a:p>
        </p:txBody>
      </p:sp>
      <p:pic>
        <p:nvPicPr>
          <p:cNvPr id="3" name="Picture 2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1B6CEED9-702B-8BD2-4D1A-28A027517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pic>
        <p:nvPicPr>
          <p:cNvPr id="1026" name="Picture 2" descr="Student Marks Prediction using Logistic Regression | Devpost">
            <a:extLst>
              <a:ext uri="{FF2B5EF4-FFF2-40B4-BE49-F238E27FC236}">
                <a16:creationId xmlns:a16="http://schemas.microsoft.com/office/drawing/2014/main" id="{0E3F2B98-7AC8-5B0D-F033-75960447B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46766"/>
            <a:ext cx="5989607" cy="42466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48882"/>
            <a:ext cx="6652726" cy="1390261"/>
          </a:xfrm>
        </p:spPr>
        <p:txBody>
          <a:bodyPr/>
          <a:lstStyle/>
          <a:p>
            <a:r>
              <a:rPr lang="en-US" sz="4400" dirty="0"/>
              <a:t> INTRODUCTION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648513"/>
            <a:ext cx="6583680" cy="3550711"/>
          </a:xfrm>
        </p:spPr>
        <p:txBody>
          <a:bodyPr>
            <a:noAutofit/>
          </a:bodyPr>
          <a:lstStyle/>
          <a:p>
            <a:r>
              <a:rPr lang="en-US" sz="1800" dirty="0"/>
              <a:t> </a:t>
            </a:r>
            <a:r>
              <a:rPr lang="en-US" sz="2000" dirty="0"/>
              <a:t>Predicting student marks enables early interventions and focused   academic support .</a:t>
            </a:r>
          </a:p>
          <a:p>
            <a:endParaRPr lang="en-US" sz="2000" dirty="0"/>
          </a:p>
          <a:p>
            <a:r>
              <a:rPr lang="en-US" sz="2000" dirty="0"/>
              <a:t>This project uses , Machine Learning to predict math scores in student’s exams.</a:t>
            </a:r>
          </a:p>
          <a:p>
            <a:r>
              <a:rPr lang="en-US" sz="2000" dirty="0"/>
              <a:t>     </a:t>
            </a:r>
          </a:p>
          <a:p>
            <a:r>
              <a:rPr lang="en-US" sz="2000" dirty="0"/>
              <a:t>With Data Science ,we automate mark predicting using real exam and demographic data.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698BA9-0AE2-E9D5-ABBE-3972B3CD1C1E}"/>
              </a:ext>
            </a:extLst>
          </p:cNvPr>
          <p:cNvSpPr/>
          <p:nvPr/>
        </p:nvSpPr>
        <p:spPr>
          <a:xfrm>
            <a:off x="741871" y="2766279"/>
            <a:ext cx="186609" cy="205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444DC-5321-6CA2-DFC5-298C5B964F30}"/>
              </a:ext>
            </a:extLst>
          </p:cNvPr>
          <p:cNvSpPr/>
          <p:nvPr/>
        </p:nvSpPr>
        <p:spPr>
          <a:xfrm>
            <a:off x="716212" y="4149311"/>
            <a:ext cx="186612" cy="205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E2D475-7D07-F1F9-6057-1BE2F4D1B956}"/>
              </a:ext>
            </a:extLst>
          </p:cNvPr>
          <p:cNvSpPr/>
          <p:nvPr/>
        </p:nvSpPr>
        <p:spPr>
          <a:xfrm>
            <a:off x="774441" y="5532343"/>
            <a:ext cx="186612" cy="205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4C7A3FB5-C641-C338-21D1-EDB02EFD6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PIPELINE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DF447D-1A1B-5DD7-4F7E-AA524BF2D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4" y="2806578"/>
            <a:ext cx="5259554" cy="3354767"/>
          </a:xfrm>
        </p:spPr>
        <p:txBody>
          <a:bodyPr>
            <a:normAutofit/>
          </a:bodyPr>
          <a:lstStyle/>
          <a:p>
            <a:r>
              <a:rPr lang="en-IN" dirty="0"/>
              <a:t>        </a:t>
            </a:r>
          </a:p>
          <a:p>
            <a:r>
              <a:rPr lang="en-IN" dirty="0"/>
              <a:t>          </a:t>
            </a:r>
            <a:r>
              <a:rPr lang="en-IN" sz="2000" dirty="0"/>
              <a:t>Data Acquisition</a:t>
            </a:r>
          </a:p>
          <a:p>
            <a:endParaRPr lang="en-IN" sz="2000" dirty="0"/>
          </a:p>
          <a:p>
            <a:r>
              <a:rPr lang="en-IN" sz="2000" dirty="0"/>
              <a:t>            Data Preprocessing</a:t>
            </a:r>
          </a:p>
          <a:p>
            <a:endParaRPr lang="en-IN" sz="2000" dirty="0"/>
          </a:p>
          <a:p>
            <a:r>
              <a:rPr lang="en-IN" sz="2000" dirty="0"/>
              <a:t>            Model Training</a:t>
            </a:r>
          </a:p>
          <a:p>
            <a:endParaRPr lang="en-IN" sz="2000" dirty="0"/>
          </a:p>
          <a:p>
            <a:r>
              <a:rPr lang="en-IN" sz="2000" dirty="0"/>
              <a:t>            Model Evaluation </a:t>
            </a:r>
          </a:p>
          <a:p>
            <a:endParaRPr lang="en-IN" sz="2000" dirty="0"/>
          </a:p>
          <a:p>
            <a:r>
              <a:rPr lang="en-IN" sz="2000" dirty="0"/>
              <a:t>            Visualization and insights </a:t>
            </a:r>
          </a:p>
          <a:p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75468C-2F55-2EBF-6069-855E0BE13EAC}"/>
              </a:ext>
            </a:extLst>
          </p:cNvPr>
          <p:cNvSpPr/>
          <p:nvPr/>
        </p:nvSpPr>
        <p:spPr>
          <a:xfrm>
            <a:off x="1274096" y="3213363"/>
            <a:ext cx="205273" cy="2192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Placeholder 20" descr="A close up of text&#10;&#10;AI-generated content may be incorrect.">
            <a:extLst>
              <a:ext uri="{FF2B5EF4-FFF2-40B4-BE49-F238E27FC236}">
                <a16:creationId xmlns:a16="http://schemas.microsoft.com/office/drawing/2014/main" id="{4788BE94-6E71-878F-833A-87873B915B8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8212" b="8212"/>
          <a:stretch>
            <a:fillRect/>
          </a:stretch>
        </p:blipFill>
        <p:spPr/>
      </p:pic>
      <p:pic>
        <p:nvPicPr>
          <p:cNvPr id="3" name="Picture 2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A0614150-1332-9402-5869-77DD4E9FB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0BEC69E-749C-9714-1DA7-3D9B3EDED08C}"/>
              </a:ext>
            </a:extLst>
          </p:cNvPr>
          <p:cNvSpPr/>
          <p:nvPr/>
        </p:nvSpPr>
        <p:spPr>
          <a:xfrm>
            <a:off x="1274095" y="3849453"/>
            <a:ext cx="205273" cy="2192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B06543-A185-BD68-752C-86A19C2A3673}"/>
              </a:ext>
            </a:extLst>
          </p:cNvPr>
          <p:cNvSpPr/>
          <p:nvPr/>
        </p:nvSpPr>
        <p:spPr>
          <a:xfrm>
            <a:off x="1280160" y="5072300"/>
            <a:ext cx="205273" cy="2192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934E2D-0221-9127-9FE9-1C36A22C0F35}"/>
              </a:ext>
            </a:extLst>
          </p:cNvPr>
          <p:cNvSpPr/>
          <p:nvPr/>
        </p:nvSpPr>
        <p:spPr>
          <a:xfrm>
            <a:off x="1274094" y="4483961"/>
            <a:ext cx="205273" cy="2192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E07CF3-CC8F-3475-615E-9D75EDDC8D5B}"/>
              </a:ext>
            </a:extLst>
          </p:cNvPr>
          <p:cNvSpPr/>
          <p:nvPr/>
        </p:nvSpPr>
        <p:spPr>
          <a:xfrm>
            <a:off x="1280157" y="5708390"/>
            <a:ext cx="205273" cy="2192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701291"/>
            <a:ext cx="5715000" cy="2727709"/>
          </a:xfrm>
        </p:spPr>
        <p:txBody>
          <a:bodyPr/>
          <a:lstStyle/>
          <a:p>
            <a:r>
              <a:rPr lang="en-US" dirty="0"/>
              <a:t>Importing libraries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041780"/>
            <a:ext cx="5715000" cy="3006469"/>
          </a:xfrm>
        </p:spPr>
        <p:txBody>
          <a:bodyPr/>
          <a:lstStyle/>
          <a:p>
            <a:r>
              <a:rPr lang="en-US" dirty="0"/>
              <a:t>    </a:t>
            </a:r>
          </a:p>
          <a:p>
            <a:r>
              <a:rPr lang="en-US" dirty="0"/>
              <a:t>      Pandas , </a:t>
            </a:r>
            <a:r>
              <a:rPr lang="en-US" dirty="0" err="1"/>
              <a:t>Numpy</a:t>
            </a:r>
            <a:r>
              <a:rPr lang="en-US" dirty="0"/>
              <a:t>  : Data Handling </a:t>
            </a:r>
          </a:p>
          <a:p>
            <a:endParaRPr lang="en-US" dirty="0"/>
          </a:p>
          <a:p>
            <a:r>
              <a:rPr lang="en-US" dirty="0"/>
              <a:t>    Matplotlib , Seaborn : Visualization </a:t>
            </a:r>
          </a:p>
          <a:p>
            <a:endParaRPr lang="en-US" dirty="0"/>
          </a:p>
          <a:p>
            <a:r>
              <a:rPr lang="en-US" dirty="0"/>
              <a:t>     Scikit-learn: ML models &amp; metrices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24AF86-9F9A-3468-5499-E4DC285776CE}"/>
              </a:ext>
            </a:extLst>
          </p:cNvPr>
          <p:cNvSpPr/>
          <p:nvPr/>
        </p:nvSpPr>
        <p:spPr>
          <a:xfrm>
            <a:off x="979713" y="3538955"/>
            <a:ext cx="233266" cy="233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8AB8DB-1A2C-C6C6-BD7A-3CD27F289EA6}"/>
              </a:ext>
            </a:extLst>
          </p:cNvPr>
          <p:cNvSpPr/>
          <p:nvPr/>
        </p:nvSpPr>
        <p:spPr>
          <a:xfrm flipH="1">
            <a:off x="933061" y="4428381"/>
            <a:ext cx="251926" cy="233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2BBF32-4550-634C-F4B1-EE2054AF2EA0}"/>
              </a:ext>
            </a:extLst>
          </p:cNvPr>
          <p:cNvSpPr/>
          <p:nvPr/>
        </p:nvSpPr>
        <p:spPr>
          <a:xfrm flipH="1">
            <a:off x="970385" y="5285792"/>
            <a:ext cx="251925" cy="2332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3149E-793D-93F1-09CF-B484CE6E1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78"/>
          <a:stretch>
            <a:fillRect/>
          </a:stretch>
        </p:blipFill>
        <p:spPr bwMode="auto">
          <a:xfrm>
            <a:off x="6783355" y="1485900"/>
            <a:ext cx="5408645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48AFEDCD-97EA-5509-1296-188DBE238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089" y="218304"/>
            <a:ext cx="7965461" cy="994164"/>
          </a:xfrm>
        </p:spPr>
        <p:txBody>
          <a:bodyPr/>
          <a:lstStyle/>
          <a:p>
            <a:r>
              <a:rPr lang="en-US" dirty="0"/>
              <a:t>DATASET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9090" y="715386"/>
            <a:ext cx="7965460" cy="40932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Dataset : Student Performance in Exams (from Kaggle)</a:t>
            </a:r>
          </a:p>
          <a:p>
            <a:pPr marL="0" indent="0">
              <a:buNone/>
            </a:pPr>
            <a:r>
              <a:rPr lang="en-US" sz="2400" dirty="0"/>
              <a:t>    StudentsPerformance.csv(1 File) </a:t>
            </a:r>
          </a:p>
          <a:p>
            <a:pPr marL="0" indent="0">
              <a:buNone/>
            </a:pPr>
            <a:r>
              <a:rPr lang="en-US" sz="2400" dirty="0"/>
              <a:t>    Columns:  Gender, race/ethnicity, parental education, lunch, test preparation, scores in math, reading, writing</a:t>
            </a:r>
          </a:p>
          <a:p>
            <a:pPr marL="0" indent="0">
              <a:buNone/>
            </a:pPr>
            <a:r>
              <a:rPr lang="en-US" sz="2400" dirty="0"/>
              <a:t>    Shape: 1000rows*8columns 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43D0E3-CBC1-E542-3AFF-B10E908409EF}"/>
              </a:ext>
            </a:extLst>
          </p:cNvPr>
          <p:cNvSpPr/>
          <p:nvPr/>
        </p:nvSpPr>
        <p:spPr>
          <a:xfrm>
            <a:off x="2621241" y="1118327"/>
            <a:ext cx="215697" cy="18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0AFF17-AFB9-1E03-4BD1-2DBA48CF5C19}"/>
              </a:ext>
            </a:extLst>
          </p:cNvPr>
          <p:cNvSpPr/>
          <p:nvPr/>
        </p:nvSpPr>
        <p:spPr>
          <a:xfrm flipH="1">
            <a:off x="2625355" y="1709550"/>
            <a:ext cx="215699" cy="18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E1C5FD-E58A-D553-EB9B-29A921976122}"/>
              </a:ext>
            </a:extLst>
          </p:cNvPr>
          <p:cNvSpPr/>
          <p:nvPr/>
        </p:nvSpPr>
        <p:spPr>
          <a:xfrm flipH="1">
            <a:off x="2621239" y="2156019"/>
            <a:ext cx="215699" cy="18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99F682-8553-C0E9-0D14-2D93DF96C3C6}"/>
              </a:ext>
            </a:extLst>
          </p:cNvPr>
          <p:cNvSpPr/>
          <p:nvPr/>
        </p:nvSpPr>
        <p:spPr>
          <a:xfrm flipH="1" flipV="1">
            <a:off x="2625355" y="3070798"/>
            <a:ext cx="215699" cy="18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9B654-66D2-83B9-DFA7-271F440E1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99" y="3429000"/>
            <a:ext cx="6958330" cy="333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1B3A4639-AF95-3CA5-4F7B-06654158E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58DCE59-8FF0-4CF4-B07D-56158CF8D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FEATURE SELECTION &amp; TARGET </a:t>
            </a:r>
            <a:br>
              <a:rPr lang="en-IN" dirty="0"/>
            </a:br>
            <a:endParaRPr lang="en-IN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332822D-6F97-91A7-2011-35D331A1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50918"/>
            <a:ext cx="6583680" cy="389106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 </a:t>
            </a:r>
          </a:p>
          <a:p>
            <a:r>
              <a:rPr lang="en-IN" dirty="0"/>
              <a:t>       Features: All columns except ‘</a:t>
            </a:r>
            <a:r>
              <a:rPr lang="en-IN" dirty="0" err="1"/>
              <a:t>math_score</a:t>
            </a:r>
            <a:r>
              <a:rPr lang="en-IN" dirty="0"/>
              <a:t>’ .</a:t>
            </a:r>
          </a:p>
          <a:p>
            <a:endParaRPr lang="en-IN" dirty="0"/>
          </a:p>
          <a:p>
            <a:r>
              <a:rPr lang="en-IN" dirty="0"/>
              <a:t>       Target: ‘</a:t>
            </a:r>
            <a:r>
              <a:rPr lang="en-IN" dirty="0" err="1"/>
              <a:t>math_score</a:t>
            </a:r>
            <a:r>
              <a:rPr lang="en-IN" dirty="0"/>
              <a:t>’ (score to predict )</a:t>
            </a:r>
          </a:p>
          <a:p>
            <a:endParaRPr lang="en-IN" dirty="0"/>
          </a:p>
          <a:p>
            <a:r>
              <a:rPr lang="en-IN" dirty="0"/>
              <a:t>       Prepared input matrix X and output y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F8A01C-E271-5B83-8001-F5A946B85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7E1BCC-EA0B-5203-F8EF-D06649233C10}"/>
              </a:ext>
            </a:extLst>
          </p:cNvPr>
          <p:cNvSpPr/>
          <p:nvPr/>
        </p:nvSpPr>
        <p:spPr>
          <a:xfrm>
            <a:off x="-363682" y="2485864"/>
            <a:ext cx="232936" cy="3381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BB2540-9469-5D36-DA98-F13B72662A7D}"/>
              </a:ext>
            </a:extLst>
          </p:cNvPr>
          <p:cNvSpPr/>
          <p:nvPr/>
        </p:nvSpPr>
        <p:spPr>
          <a:xfrm flipH="1">
            <a:off x="-310221" y="3939922"/>
            <a:ext cx="155613" cy="1556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759735-EDAD-CAFF-7AE9-CC097687C3F6}"/>
              </a:ext>
            </a:extLst>
          </p:cNvPr>
          <p:cNvSpPr/>
          <p:nvPr/>
        </p:nvSpPr>
        <p:spPr>
          <a:xfrm>
            <a:off x="1108552" y="2704187"/>
            <a:ext cx="263047" cy="3010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87D23F4-EF8A-A21D-2609-D0AB91390FC2}"/>
              </a:ext>
            </a:extLst>
          </p:cNvPr>
          <p:cNvSpPr/>
          <p:nvPr/>
        </p:nvSpPr>
        <p:spPr>
          <a:xfrm>
            <a:off x="1108552" y="3702311"/>
            <a:ext cx="350729" cy="3010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BA0E0656-C74D-913F-F8A8-04518C6B8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18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813171-34AD-5A87-6D6F-32109A94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DATA SPLITTING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320506"/>
            <a:ext cx="7043618" cy="372147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      Split data (80% training, 20%testing) for fair model evaluation.</a:t>
            </a:r>
          </a:p>
          <a:p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train_test_split</a:t>
            </a:r>
            <a:r>
              <a:rPr lang="en-US" dirty="0"/>
              <a:t> ensures random, reproducible partition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1B049C-C8FC-CEA6-4828-7AAFE465A06E}"/>
              </a:ext>
            </a:extLst>
          </p:cNvPr>
          <p:cNvSpPr/>
          <p:nvPr/>
        </p:nvSpPr>
        <p:spPr>
          <a:xfrm>
            <a:off x="4658264" y="2807897"/>
            <a:ext cx="215661" cy="215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690454-23E9-F4F0-ACDD-177968BD1DFC}"/>
              </a:ext>
            </a:extLst>
          </p:cNvPr>
          <p:cNvSpPr/>
          <p:nvPr/>
        </p:nvSpPr>
        <p:spPr>
          <a:xfrm>
            <a:off x="4658264" y="3903758"/>
            <a:ext cx="215661" cy="2329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AD0C6D84-68B4-A4D7-38AF-FE4C8BCA1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2776D-233A-2DBF-8FFF-075C1F788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429" y="4791076"/>
            <a:ext cx="83343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B7A6-37E7-6306-608E-D9053EAF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MODEL TRAINING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E3335-D701-026B-C9CE-E46E3C853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2306771"/>
            <a:ext cx="10511627" cy="394855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sz="2400" dirty="0"/>
              <a:t>Used linear regression from scikit-learn for prediction.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Trained on </a:t>
            </a:r>
            <a:r>
              <a:rPr lang="en-IN" sz="2400" dirty="0" err="1"/>
              <a:t>preprocessed</a:t>
            </a:r>
            <a:r>
              <a:rPr lang="en-IN" sz="2400" dirty="0"/>
              <a:t> training data.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</a:p>
          <a:p>
            <a:pPr marL="0" indent="0">
              <a:buNone/>
            </a:pPr>
            <a:r>
              <a:rPr lang="en-IN" sz="2400" dirty="0"/>
              <a:t>       Model learns relationships between input features and math score.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3ACCA4-1A8F-E359-A01D-9383ACBFA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CFDE5E-7000-0168-BC69-396FE72135F0}"/>
              </a:ext>
            </a:extLst>
          </p:cNvPr>
          <p:cNvSpPr/>
          <p:nvPr/>
        </p:nvSpPr>
        <p:spPr>
          <a:xfrm>
            <a:off x="1080655" y="2849379"/>
            <a:ext cx="288349" cy="2523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F3DAD0-07AB-7B5E-CCEB-E9C97375ADDC}"/>
              </a:ext>
            </a:extLst>
          </p:cNvPr>
          <p:cNvSpPr/>
          <p:nvPr/>
        </p:nvSpPr>
        <p:spPr>
          <a:xfrm flipV="1">
            <a:off x="1080655" y="3868345"/>
            <a:ext cx="290945" cy="2285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838026-5656-96BD-EA0A-8060EA08283E}"/>
              </a:ext>
            </a:extLst>
          </p:cNvPr>
          <p:cNvSpPr/>
          <p:nvPr/>
        </p:nvSpPr>
        <p:spPr>
          <a:xfrm>
            <a:off x="1080655" y="4852554"/>
            <a:ext cx="290945" cy="2285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CB0894DB-FE50-B03A-F05C-2E151B50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10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AABA-D1F6-7BB7-903C-D895C73F2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MODEL EVALUATION METRICES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1B08C8-4A50-77A6-2C94-5F5E6C258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180024"/>
            <a:ext cx="7965460" cy="3497698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/>
              <a:t>      Mean Absolute Error(MAE):Measures average prediction error magnitude.</a:t>
            </a:r>
          </a:p>
          <a:p>
            <a:endParaRPr lang="en-IN" dirty="0"/>
          </a:p>
          <a:p>
            <a:r>
              <a:rPr lang="en-IN" dirty="0"/>
              <a:t>     Mean Squared Error(MSE): Penalizes large errors.</a:t>
            </a:r>
          </a:p>
          <a:p>
            <a:endParaRPr lang="en-IN" dirty="0"/>
          </a:p>
          <a:p>
            <a:r>
              <a:rPr lang="en-IN" dirty="0"/>
              <a:t>      R² Score: Proportion of variance and </a:t>
            </a:r>
            <a:r>
              <a:rPr lang="en-US" dirty="0"/>
              <a:t> high R²  indicates good model fit.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4D078-13BD-1536-5FCE-CB064233F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563" y="4876801"/>
            <a:ext cx="54864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9B6C1F9E-B849-189B-2E66-88376E4B8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DC352EC-4A7A-0DAA-E234-5053C197B207}"/>
              </a:ext>
            </a:extLst>
          </p:cNvPr>
          <p:cNvSpPr/>
          <p:nvPr/>
        </p:nvSpPr>
        <p:spPr>
          <a:xfrm>
            <a:off x="3460565" y="2597072"/>
            <a:ext cx="288349" cy="2523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26E265-01A8-4002-688D-AFDA5B1B644C}"/>
              </a:ext>
            </a:extLst>
          </p:cNvPr>
          <p:cNvSpPr/>
          <p:nvPr/>
        </p:nvSpPr>
        <p:spPr>
          <a:xfrm flipV="1">
            <a:off x="3457969" y="3700275"/>
            <a:ext cx="290945" cy="2285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31ADCF-3FE6-EF32-81AE-72618423976C}"/>
              </a:ext>
            </a:extLst>
          </p:cNvPr>
          <p:cNvSpPr/>
          <p:nvPr/>
        </p:nvSpPr>
        <p:spPr>
          <a:xfrm>
            <a:off x="3460566" y="4460400"/>
            <a:ext cx="290945" cy="2285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VISUALIZATION-Actual vs Predicted marks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CE4464-6FFC-5A8F-CFC7-C192F6593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2400" dirty="0"/>
              <a:t>     Scatter plot: x=actual marks ,y =predicted marks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Perfect model has points on the diagonal.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(Insert matplotlib plot output here)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F8982E-05EC-99F1-A3EC-9AB19BA31169}"/>
              </a:ext>
            </a:extLst>
          </p:cNvPr>
          <p:cNvSpPr/>
          <p:nvPr/>
        </p:nvSpPr>
        <p:spPr>
          <a:xfrm flipH="1">
            <a:off x="3582444" y="2723530"/>
            <a:ext cx="300624" cy="250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10E15C4-5A70-8DD5-D8F8-4DCB8DFADBAB}"/>
              </a:ext>
            </a:extLst>
          </p:cNvPr>
          <p:cNvSpPr/>
          <p:nvPr/>
        </p:nvSpPr>
        <p:spPr>
          <a:xfrm flipH="1" flipV="1">
            <a:off x="3582444" y="3645073"/>
            <a:ext cx="272191" cy="250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70D65E41-2362-BA9E-50AE-10A80186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FB20D73D-57D3-E863-2BC0-092D7741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482" y="238634"/>
            <a:ext cx="7037417" cy="5371895"/>
          </a:xfrm>
          <a:prstGeom prst="rect">
            <a:avLst/>
          </a:prstGeom>
        </p:spPr>
      </p:pic>
      <p:pic>
        <p:nvPicPr>
          <p:cNvPr id="3" name="Picture 2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3EDAD438-FF32-B6E7-ABAE-AEF5AB79A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EXAMPLE PREDICTION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FCEEF-A74B-3D9E-F1C3-C549C0B22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80" y="2328881"/>
            <a:ext cx="10511627" cy="3948557"/>
          </a:xfrm>
        </p:spPr>
        <p:txBody>
          <a:bodyPr/>
          <a:lstStyle/>
          <a:p>
            <a:endParaRPr lang="en-IN" dirty="0"/>
          </a:p>
          <a:p>
            <a:r>
              <a:rPr lang="en-IN" sz="2400" dirty="0"/>
              <a:t>Demonstrated single prediction from test data.</a:t>
            </a:r>
          </a:p>
          <a:p>
            <a:endParaRPr lang="en-IN" sz="2400" dirty="0"/>
          </a:p>
          <a:p>
            <a:r>
              <a:rPr lang="en-IN" sz="2400" dirty="0"/>
              <a:t>Input features:(show sample values from </a:t>
            </a:r>
            <a:r>
              <a:rPr lang="en-IN" sz="2400" dirty="0" err="1"/>
              <a:t>x_test</a:t>
            </a:r>
            <a:r>
              <a:rPr lang="en-IN" sz="2400" dirty="0"/>
              <a:t>).</a:t>
            </a:r>
          </a:p>
          <a:p>
            <a:endParaRPr lang="en-IN" sz="2400" dirty="0"/>
          </a:p>
          <a:p>
            <a:r>
              <a:rPr lang="en-IN" sz="2400" dirty="0"/>
              <a:t>Predicted math score:(show value from pred).</a:t>
            </a:r>
          </a:p>
          <a:p>
            <a:endParaRPr lang="en-IN" sz="2400" dirty="0"/>
          </a:p>
          <a:p>
            <a:endParaRPr lang="en-IN" dirty="0"/>
          </a:p>
        </p:txBody>
      </p:sp>
      <p:pic>
        <p:nvPicPr>
          <p:cNvPr id="4" name="Picture 3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F7249CA9-6E3D-5925-262C-7BB48F7C2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3DE164-6DB2-03F6-13C8-4A2066B6F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742" y="3666226"/>
            <a:ext cx="4851873" cy="23922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004DA9D-6887-8F68-55C7-CC3704F2DE53}"/>
              </a:ext>
            </a:extLst>
          </p:cNvPr>
          <p:cNvSpPr/>
          <p:nvPr/>
        </p:nvSpPr>
        <p:spPr>
          <a:xfrm>
            <a:off x="626301" y="2856470"/>
            <a:ext cx="288099" cy="328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C16CAF-0AF4-7FD7-1020-06E10BA39EB9}"/>
              </a:ext>
            </a:extLst>
          </p:cNvPr>
          <p:cNvSpPr/>
          <p:nvPr/>
        </p:nvSpPr>
        <p:spPr>
          <a:xfrm>
            <a:off x="640080" y="3801405"/>
            <a:ext cx="288099" cy="328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108FE4-0423-FE4C-2926-9457234D1E3C}"/>
              </a:ext>
            </a:extLst>
          </p:cNvPr>
          <p:cNvSpPr/>
          <p:nvPr/>
        </p:nvSpPr>
        <p:spPr>
          <a:xfrm>
            <a:off x="626300" y="4862347"/>
            <a:ext cx="288099" cy="328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E6672-A90C-7DB4-7C83-B5CDE3DA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917BDBAD-00AE-7C89-9BE5-6D6EDAAA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847534-2A00-05D4-E9AE-A4FB79F4B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35" y="1624237"/>
            <a:ext cx="7505729" cy="36095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63DD7C-657D-8D29-AE6F-DC3A128F444A}"/>
              </a:ext>
            </a:extLst>
          </p:cNvPr>
          <p:cNvSpPr/>
          <p:nvPr/>
        </p:nvSpPr>
        <p:spPr>
          <a:xfrm>
            <a:off x="3648973" y="1001791"/>
            <a:ext cx="288099" cy="328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36BE4-5F7E-77D2-086A-23BC5ABE4AB9}"/>
              </a:ext>
            </a:extLst>
          </p:cNvPr>
          <p:cNvSpPr txBox="1"/>
          <p:nvPr/>
        </p:nvSpPr>
        <p:spPr>
          <a:xfrm>
            <a:off x="3937072" y="843054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Example</a:t>
            </a:r>
            <a:r>
              <a:rPr lang="en-IN" dirty="0"/>
              <a:t> </a:t>
            </a:r>
            <a:r>
              <a:rPr lang="en-IN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4054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B0CBD5-447A-CE08-6605-B6FCD9E9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&amp; FUTURE WORK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45BF9-21E9-6C15-6355-4F03F92CE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E4A8A-C5C2-098C-E5CF-7A11B115761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555310"/>
            <a:ext cx="7043618" cy="3486673"/>
          </a:xfrm>
        </p:spPr>
        <p:txBody>
          <a:bodyPr/>
          <a:lstStyle/>
          <a:p>
            <a:r>
              <a:rPr lang="en-IN" dirty="0"/>
              <a:t> </a:t>
            </a:r>
          </a:p>
          <a:p>
            <a:r>
              <a:rPr lang="en-IN" dirty="0"/>
              <a:t>   Only tested on this dataset- other schools or regions may vary.</a:t>
            </a:r>
          </a:p>
          <a:p>
            <a:endParaRPr lang="en-IN" dirty="0"/>
          </a:p>
          <a:p>
            <a:r>
              <a:rPr lang="en-IN" dirty="0"/>
              <a:t>    Try advanced models(Random Forest , </a:t>
            </a:r>
            <a:r>
              <a:rPr lang="en-IN" dirty="0" err="1"/>
              <a:t>XGBoost</a:t>
            </a:r>
            <a:r>
              <a:rPr lang="en-IN" dirty="0"/>
              <a:t> ).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  Experiment with more features(attendance , assignments , </a:t>
            </a:r>
            <a:r>
              <a:rPr lang="en-IN" dirty="0" err="1"/>
              <a:t>behavior</a:t>
            </a:r>
            <a:r>
              <a:rPr lang="en-IN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75A3FA-F0ED-21CF-08CF-8AFA55BE8A68}"/>
              </a:ext>
            </a:extLst>
          </p:cNvPr>
          <p:cNvSpPr/>
          <p:nvPr/>
        </p:nvSpPr>
        <p:spPr>
          <a:xfrm>
            <a:off x="4201971" y="2926138"/>
            <a:ext cx="325676" cy="3181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78A643-8D6D-17FC-8270-7E3492B67C27}"/>
              </a:ext>
            </a:extLst>
          </p:cNvPr>
          <p:cNvSpPr/>
          <p:nvPr/>
        </p:nvSpPr>
        <p:spPr>
          <a:xfrm>
            <a:off x="4201971" y="4083483"/>
            <a:ext cx="388307" cy="3256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2DF8B-0101-1753-2C7A-D1BB657D0C80}"/>
              </a:ext>
            </a:extLst>
          </p:cNvPr>
          <p:cNvSpPr/>
          <p:nvPr/>
        </p:nvSpPr>
        <p:spPr>
          <a:xfrm>
            <a:off x="4207720" y="4766083"/>
            <a:ext cx="424310" cy="3470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40FD83AA-CD86-9661-DE52-27365DC1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24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3269-7D21-B457-3465-D2258ACF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CONCLUSION</a:t>
            </a:r>
            <a:br>
              <a:rPr lang="en-IN" sz="4400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F4036E-7741-6199-A38B-CBABB8F64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17CA1-721C-6CED-DB8E-280C2BA8CC7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091848"/>
            <a:ext cx="7043618" cy="3950136"/>
          </a:xfrm>
        </p:spPr>
        <p:txBody>
          <a:bodyPr/>
          <a:lstStyle/>
          <a:p>
            <a:r>
              <a:rPr lang="en-US" dirty="0"/>
              <a:t>    Successful application of linear regression for student mark prediction.</a:t>
            </a:r>
          </a:p>
          <a:p>
            <a:endParaRPr lang="en-US" dirty="0"/>
          </a:p>
          <a:p>
            <a:r>
              <a:rPr lang="en-US" dirty="0"/>
              <a:t>    Model provides accurate, actionable insights for educators.</a:t>
            </a:r>
          </a:p>
          <a:p>
            <a:endParaRPr lang="en-US" dirty="0"/>
          </a:p>
          <a:p>
            <a:r>
              <a:rPr lang="en-US" dirty="0"/>
              <a:t>    Demonstrates effectiveness of machine learning in educational analytics.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8449FA-67E9-4FD7-C3A5-63960CC64CF2}"/>
              </a:ext>
            </a:extLst>
          </p:cNvPr>
          <p:cNvSpPr/>
          <p:nvPr/>
        </p:nvSpPr>
        <p:spPr>
          <a:xfrm>
            <a:off x="4364807" y="2091848"/>
            <a:ext cx="313151" cy="313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70CD53-CA06-D1B4-1AB2-172787E7B09E}"/>
              </a:ext>
            </a:extLst>
          </p:cNvPr>
          <p:cNvSpPr/>
          <p:nvPr/>
        </p:nvSpPr>
        <p:spPr>
          <a:xfrm>
            <a:off x="4388834" y="3201966"/>
            <a:ext cx="313151" cy="313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87516D-6E75-5CDC-CD30-CB55CE957F20}"/>
              </a:ext>
            </a:extLst>
          </p:cNvPr>
          <p:cNvSpPr/>
          <p:nvPr/>
        </p:nvSpPr>
        <p:spPr>
          <a:xfrm>
            <a:off x="4388833" y="4374458"/>
            <a:ext cx="313151" cy="313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24C78D95-EA59-51E9-A07D-FF4E3E2C3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16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F45B35-A018-C6E0-2E19-54D7D84F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F253F-B916-B40A-8C2F-92A419F835C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   Kaggle dataset: Student Performance in Exams.</a:t>
            </a:r>
          </a:p>
          <a:p>
            <a:endParaRPr lang="en-IN" dirty="0"/>
          </a:p>
          <a:p>
            <a:r>
              <a:rPr lang="en-IN" dirty="0"/>
              <a:t>    Scikit-learn Documentation.</a:t>
            </a:r>
          </a:p>
          <a:p>
            <a:endParaRPr lang="en-IN" dirty="0"/>
          </a:p>
          <a:p>
            <a:r>
              <a:rPr lang="en-IN" dirty="0"/>
              <a:t>     Project code and research articles on educational data mining.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E6730C-B933-3507-1233-16DF7F90AB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12093-AF87-41EA-0D43-6DDE79AF1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C30276-4F1B-2BB7-13ED-EDD27F04777E}"/>
              </a:ext>
            </a:extLst>
          </p:cNvPr>
          <p:cNvSpPr/>
          <p:nvPr/>
        </p:nvSpPr>
        <p:spPr>
          <a:xfrm flipH="1">
            <a:off x="864294" y="2762461"/>
            <a:ext cx="300626" cy="2370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41140B-9F7F-AA6F-DCEE-94E48CFF3E70}"/>
              </a:ext>
            </a:extLst>
          </p:cNvPr>
          <p:cNvSpPr/>
          <p:nvPr/>
        </p:nvSpPr>
        <p:spPr>
          <a:xfrm flipH="1">
            <a:off x="914400" y="3542846"/>
            <a:ext cx="300626" cy="2370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BB16CE-ED63-93B3-E1DA-7B14A2DF06DE}"/>
              </a:ext>
            </a:extLst>
          </p:cNvPr>
          <p:cNvSpPr/>
          <p:nvPr/>
        </p:nvSpPr>
        <p:spPr>
          <a:xfrm>
            <a:off x="914400" y="4204706"/>
            <a:ext cx="300626" cy="2370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A83DBE38-4CE2-3DBB-4B8A-0E3DA9F2E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19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388" y="1828800"/>
            <a:ext cx="6193766" cy="2727709"/>
          </a:xfrm>
        </p:spPr>
        <p:txBody>
          <a:bodyPr/>
          <a:lstStyle/>
          <a:p>
            <a:r>
              <a:rPr lang="en-US" sz="6000" dirty="0"/>
              <a:t>Thank </a:t>
            </a:r>
            <a:br>
              <a:rPr lang="en-US" sz="6000" dirty="0"/>
            </a:br>
            <a:r>
              <a:rPr lang="en-US" sz="6000" dirty="0"/>
              <a:t>             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388" y="1828800"/>
            <a:ext cx="6616461" cy="35713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Blue and white striped letters&#10;&#10;AI-generated content may be incorrect.">
            <a:extLst>
              <a:ext uri="{FF2B5EF4-FFF2-40B4-BE49-F238E27FC236}">
                <a16:creationId xmlns:a16="http://schemas.microsoft.com/office/drawing/2014/main" id="{A7638C26-49E7-3BEB-6D38-AE8B2F4A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840" y="0"/>
            <a:ext cx="1280160" cy="59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{DFAD0F46-6D37-4E57-AF3C-CB6909F489C4}tf78438558_win32</Template>
  <TotalTime>610</TotalTime>
  <Words>527</Words>
  <Application>Microsoft Office PowerPoint</Application>
  <PresentationFormat>Widescreen</PresentationFormat>
  <Paragraphs>120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Sabon Next LT</vt:lpstr>
      <vt:lpstr>Custom</vt:lpstr>
      <vt:lpstr>STUDENT MARKS  PREDICTION  (DATA SCIENCE PROJECT)  SUBMITTED TO : Mr. Devansh Kasaudhan </vt:lpstr>
      <vt:lpstr> INTRODUCTION </vt:lpstr>
      <vt:lpstr>PROJECT PIPELINE  </vt:lpstr>
      <vt:lpstr>Importing libraries  </vt:lpstr>
      <vt:lpstr>DATASET DESCRIPTION </vt:lpstr>
      <vt:lpstr>  FEATURE SELECTION &amp; TARGET  </vt:lpstr>
      <vt:lpstr>DATA SPLITTING   </vt:lpstr>
      <vt:lpstr>  MODEL TRAINING </vt:lpstr>
      <vt:lpstr>MODEL EVALUATION METRICES</vt:lpstr>
      <vt:lpstr>  VISUALIZATION-Actual vs Predicted marks </vt:lpstr>
      <vt:lpstr>PowerPoint Presentation</vt:lpstr>
      <vt:lpstr>EXAMPLE PREDICTION</vt:lpstr>
      <vt:lpstr>PowerPoint Presentation</vt:lpstr>
      <vt:lpstr>LIMITATIONS &amp; FUTURE WORK  </vt:lpstr>
      <vt:lpstr>CONCLUSION    </vt:lpstr>
      <vt:lpstr>REFRENCES</vt:lpstr>
      <vt:lpstr>Thank            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Mehak Passi</dc:creator>
  <cp:lastModifiedBy>Manul Sahu</cp:lastModifiedBy>
  <cp:revision>6</cp:revision>
  <dcterms:created xsi:type="dcterms:W3CDTF">2025-10-23T15:57:24Z</dcterms:created>
  <dcterms:modified xsi:type="dcterms:W3CDTF">2025-11-21T05:36:05Z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